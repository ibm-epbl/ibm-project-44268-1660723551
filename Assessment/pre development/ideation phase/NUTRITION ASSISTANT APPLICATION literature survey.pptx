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8" r:id="rId3"/>
    <p:sldId id="259" r:id="rId4"/>
    <p:sldId id="257"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17F0A76-E79D-4307-B19F-321C89059FA8}" type="datetimeFigureOut">
              <a:rPr lang="en-IN" smtClean="0"/>
              <a:t>18-09-2022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55CE3D-4F29-4775-8148-DF2278A08F88}" type="slidenum">
              <a:rPr lang="en-IN" smtClean="0"/>
              <a:t>‹#›</a:t>
            </a:fld>
            <a:endParaRPr lang="en-IN"/>
          </a:p>
        </p:txBody>
      </p:sp>
    </p:spTree>
    <p:extLst>
      <p:ext uri="{BB962C8B-B14F-4D97-AF65-F5344CB8AC3E}">
        <p14:creationId xmlns:p14="http://schemas.microsoft.com/office/powerpoint/2010/main" val="3703545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7F0A76-E79D-4307-B19F-321C89059FA8}" type="datetimeFigureOut">
              <a:rPr lang="en-IN" smtClean="0"/>
              <a:t>18-09-2022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55CE3D-4F29-4775-8148-DF2278A08F88}" type="slidenum">
              <a:rPr lang="en-IN" smtClean="0"/>
              <a:t>‹#›</a:t>
            </a:fld>
            <a:endParaRPr lang="en-IN"/>
          </a:p>
        </p:txBody>
      </p:sp>
    </p:spTree>
    <p:extLst>
      <p:ext uri="{BB962C8B-B14F-4D97-AF65-F5344CB8AC3E}">
        <p14:creationId xmlns:p14="http://schemas.microsoft.com/office/powerpoint/2010/main" val="8530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7F0A76-E79D-4307-B19F-321C89059FA8}" type="datetimeFigureOut">
              <a:rPr lang="en-IN" smtClean="0"/>
              <a:t>18-09-2022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55CE3D-4F29-4775-8148-DF2278A08F88}" type="slidenum">
              <a:rPr lang="en-IN" smtClean="0"/>
              <a:t>‹#›</a:t>
            </a:fld>
            <a:endParaRPr lang="en-IN"/>
          </a:p>
        </p:txBody>
      </p:sp>
    </p:spTree>
    <p:extLst>
      <p:ext uri="{BB962C8B-B14F-4D97-AF65-F5344CB8AC3E}">
        <p14:creationId xmlns:p14="http://schemas.microsoft.com/office/powerpoint/2010/main" val="2416257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17F0A76-E79D-4307-B19F-321C89059FA8}" type="datetimeFigureOut">
              <a:rPr lang="en-IN" smtClean="0"/>
              <a:t>18-09-2022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C55CE3D-4F29-4775-8148-DF2278A08F88}" type="slidenum">
              <a:rPr lang="en-IN" smtClean="0"/>
              <a:t>‹#›</a:t>
            </a:fld>
            <a:endParaRPr lang="en-IN"/>
          </a:p>
        </p:txBody>
      </p:sp>
    </p:spTree>
    <p:extLst>
      <p:ext uri="{BB962C8B-B14F-4D97-AF65-F5344CB8AC3E}">
        <p14:creationId xmlns:p14="http://schemas.microsoft.com/office/powerpoint/2010/main" val="2411708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17F0A76-E79D-4307-B19F-321C89059FA8}" type="datetimeFigureOut">
              <a:rPr lang="en-IN" smtClean="0"/>
              <a:t>18-09-2022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C55CE3D-4F29-4775-8148-DF2278A08F88}" type="slidenum">
              <a:rPr lang="en-IN" smtClean="0"/>
              <a:t>‹#›</a:t>
            </a:fld>
            <a:endParaRPr lang="en-IN"/>
          </a:p>
        </p:txBody>
      </p:sp>
    </p:spTree>
    <p:extLst>
      <p:ext uri="{BB962C8B-B14F-4D97-AF65-F5344CB8AC3E}">
        <p14:creationId xmlns:p14="http://schemas.microsoft.com/office/powerpoint/2010/main" val="4217853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17F0A76-E79D-4307-B19F-321C89059FA8}" type="datetimeFigureOut">
              <a:rPr lang="en-IN" smtClean="0"/>
              <a:t>18-09-2022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C55CE3D-4F29-4775-8148-DF2278A08F88}" type="slidenum">
              <a:rPr lang="en-IN" smtClean="0"/>
              <a:t>‹#›</a:t>
            </a:fld>
            <a:endParaRPr lang="en-IN"/>
          </a:p>
        </p:txBody>
      </p:sp>
    </p:spTree>
    <p:extLst>
      <p:ext uri="{BB962C8B-B14F-4D97-AF65-F5344CB8AC3E}">
        <p14:creationId xmlns:p14="http://schemas.microsoft.com/office/powerpoint/2010/main" val="410884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7F0A76-E79D-4307-B19F-321C89059FA8}" type="datetimeFigureOut">
              <a:rPr lang="en-IN" smtClean="0"/>
              <a:t>18-09-2022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C55CE3D-4F29-4775-8148-DF2278A08F88}" type="slidenum">
              <a:rPr lang="en-IN" smtClean="0"/>
              <a:t>‹#›</a:t>
            </a:fld>
            <a:endParaRPr lang="en-IN"/>
          </a:p>
        </p:txBody>
      </p:sp>
    </p:spTree>
    <p:extLst>
      <p:ext uri="{BB962C8B-B14F-4D97-AF65-F5344CB8AC3E}">
        <p14:creationId xmlns:p14="http://schemas.microsoft.com/office/powerpoint/2010/main" val="711324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7F0A76-E79D-4307-B19F-321C89059FA8}" type="datetimeFigureOut">
              <a:rPr lang="en-IN" smtClean="0"/>
              <a:t>18-09-2022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C55CE3D-4F29-4775-8148-DF2278A08F88}" type="slidenum">
              <a:rPr lang="en-IN" smtClean="0"/>
              <a:t>‹#›</a:t>
            </a:fld>
            <a:endParaRPr lang="en-IN"/>
          </a:p>
        </p:txBody>
      </p:sp>
    </p:spTree>
    <p:extLst>
      <p:ext uri="{BB962C8B-B14F-4D97-AF65-F5344CB8AC3E}">
        <p14:creationId xmlns:p14="http://schemas.microsoft.com/office/powerpoint/2010/main" val="1811153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C55CE3D-4F29-4775-8148-DF2278A08F88}" type="slidenum">
              <a:rPr lang="en-IN" smtClean="0"/>
              <a:t>‹#›</a:t>
            </a:fld>
            <a:endParaRPr lang="en-IN"/>
          </a:p>
        </p:txBody>
      </p:sp>
      <p:sp>
        <p:nvSpPr>
          <p:cNvPr id="5" name="Date Placeholder 4"/>
          <p:cNvSpPr>
            <a:spLocks noGrp="1"/>
          </p:cNvSpPr>
          <p:nvPr>
            <p:ph type="dt" sz="half" idx="10"/>
          </p:nvPr>
        </p:nvSpPr>
        <p:spPr/>
        <p:txBody>
          <a:bodyPr/>
          <a:lstStyle/>
          <a:p>
            <a:fld id="{B17F0A76-E79D-4307-B19F-321C89059FA8}" type="datetimeFigureOut">
              <a:rPr lang="en-IN" smtClean="0"/>
              <a:t>18-09-2022</a:t>
            </a:fld>
            <a:endParaRPr lang="en-IN"/>
          </a:p>
        </p:txBody>
      </p:sp>
    </p:spTree>
    <p:extLst>
      <p:ext uri="{BB962C8B-B14F-4D97-AF65-F5344CB8AC3E}">
        <p14:creationId xmlns:p14="http://schemas.microsoft.com/office/powerpoint/2010/main" val="4004023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7F0A76-E79D-4307-B19F-321C89059FA8}" type="datetimeFigureOut">
              <a:rPr lang="en-IN" smtClean="0"/>
              <a:t>18-09-2022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55CE3D-4F29-4775-8148-DF2278A08F88}" type="slidenum">
              <a:rPr lang="en-IN" smtClean="0"/>
              <a:t>‹#›</a:t>
            </a:fld>
            <a:endParaRPr lang="en-IN"/>
          </a:p>
        </p:txBody>
      </p:sp>
    </p:spTree>
    <p:extLst>
      <p:ext uri="{BB962C8B-B14F-4D97-AF65-F5344CB8AC3E}">
        <p14:creationId xmlns:p14="http://schemas.microsoft.com/office/powerpoint/2010/main" val="1553759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7F0A76-E79D-4307-B19F-321C89059FA8}" type="datetimeFigureOut">
              <a:rPr lang="en-IN" smtClean="0"/>
              <a:t>18-09-2022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55CE3D-4F29-4775-8148-DF2278A08F88}"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30228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7F0A76-E79D-4307-B19F-321C89059FA8}" type="datetimeFigureOut">
              <a:rPr lang="en-IN" smtClean="0"/>
              <a:t>18-09-2022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55CE3D-4F29-4775-8148-DF2278A08F88}" type="slidenum">
              <a:rPr lang="en-IN" smtClean="0"/>
              <a:t>‹#›</a:t>
            </a:fld>
            <a:endParaRPr lang="en-IN"/>
          </a:p>
        </p:txBody>
      </p:sp>
    </p:spTree>
    <p:extLst>
      <p:ext uri="{BB962C8B-B14F-4D97-AF65-F5344CB8AC3E}">
        <p14:creationId xmlns:p14="http://schemas.microsoft.com/office/powerpoint/2010/main" val="30671251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7F0A76-E79D-4307-B19F-321C89059FA8}" type="datetimeFigureOut">
              <a:rPr lang="en-IN" smtClean="0"/>
              <a:t>18-09-2022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55CE3D-4F29-4775-8148-DF2278A08F88}"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962668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7F0A76-E79D-4307-B19F-321C89059FA8}" type="datetimeFigureOut">
              <a:rPr lang="en-IN" smtClean="0"/>
              <a:t>18-09-2022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55CE3D-4F29-4775-8148-DF2278A08F88}" type="slidenum">
              <a:rPr lang="en-IN" smtClean="0"/>
              <a:t>‹#›</a:t>
            </a:fld>
            <a:endParaRPr lang="en-IN"/>
          </a:p>
        </p:txBody>
      </p:sp>
    </p:spTree>
    <p:extLst>
      <p:ext uri="{BB962C8B-B14F-4D97-AF65-F5344CB8AC3E}">
        <p14:creationId xmlns:p14="http://schemas.microsoft.com/office/powerpoint/2010/main" val="34388155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7F0A76-E79D-4307-B19F-321C89059FA8}" type="datetimeFigureOut">
              <a:rPr lang="en-IN" smtClean="0"/>
              <a:t>18-09-2022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55CE3D-4F29-4775-8148-DF2278A08F88}" type="slidenum">
              <a:rPr lang="en-IN" smtClean="0"/>
              <a:t>‹#›</a:t>
            </a:fld>
            <a:endParaRPr lang="en-IN"/>
          </a:p>
        </p:txBody>
      </p:sp>
    </p:spTree>
    <p:extLst>
      <p:ext uri="{BB962C8B-B14F-4D97-AF65-F5344CB8AC3E}">
        <p14:creationId xmlns:p14="http://schemas.microsoft.com/office/powerpoint/2010/main" val="6004189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7F0A76-E79D-4307-B19F-321C89059FA8}" type="datetimeFigureOut">
              <a:rPr lang="en-IN" smtClean="0"/>
              <a:t>18-09-2022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55CE3D-4F29-4775-8148-DF2278A08F88}" type="slidenum">
              <a:rPr lang="en-IN" smtClean="0"/>
              <a:t>‹#›</a:t>
            </a:fld>
            <a:endParaRPr lang="en-IN"/>
          </a:p>
        </p:txBody>
      </p:sp>
    </p:spTree>
    <p:extLst>
      <p:ext uri="{BB962C8B-B14F-4D97-AF65-F5344CB8AC3E}">
        <p14:creationId xmlns:p14="http://schemas.microsoft.com/office/powerpoint/2010/main" val="1792211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17F0A76-E79D-4307-B19F-321C89059FA8}" type="datetimeFigureOut">
              <a:rPr lang="en-IN" smtClean="0"/>
              <a:t>18-09-2022</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C55CE3D-4F29-4775-8148-DF2278A08F88}" type="slidenum">
              <a:rPr lang="en-IN" smtClean="0"/>
              <a:t>‹#›</a:t>
            </a:fld>
            <a:endParaRPr lang="en-IN"/>
          </a:p>
        </p:txBody>
      </p:sp>
    </p:spTree>
    <p:extLst>
      <p:ext uri="{BB962C8B-B14F-4D97-AF65-F5344CB8AC3E}">
        <p14:creationId xmlns:p14="http://schemas.microsoft.com/office/powerpoint/2010/main" val="17506452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A9AB6-287D-74F7-2975-011C375A3EC9}"/>
              </a:ext>
            </a:extLst>
          </p:cNvPr>
          <p:cNvSpPr>
            <a:spLocks noGrp="1"/>
          </p:cNvSpPr>
          <p:nvPr>
            <p:ph type="ctrTitle"/>
          </p:nvPr>
        </p:nvSpPr>
        <p:spPr/>
        <p:txBody>
          <a:bodyPr>
            <a:normAutofit fontScale="90000"/>
          </a:bodyPr>
          <a:lstStyle/>
          <a:p>
            <a:r>
              <a:rPr lang="en-US" sz="6000" b="0" spc="-15" dirty="0">
                <a:solidFill>
                  <a:srgbClr val="F7921F"/>
                </a:solidFill>
                <a:latin typeface="Arial Black"/>
                <a:cs typeface="Arial Black"/>
              </a:rPr>
              <a:t>NUTRITION ASSISTANT APPLICATION</a:t>
            </a:r>
            <a:endParaRPr lang="en-IN" dirty="0"/>
          </a:p>
        </p:txBody>
      </p:sp>
      <p:sp>
        <p:nvSpPr>
          <p:cNvPr id="3" name="Subtitle 2">
            <a:extLst>
              <a:ext uri="{FF2B5EF4-FFF2-40B4-BE49-F238E27FC236}">
                <a16:creationId xmlns:a16="http://schemas.microsoft.com/office/drawing/2014/main" id="{76F054D7-A0F7-5378-CD6F-5117A3B7BA4C}"/>
              </a:ext>
            </a:extLst>
          </p:cNvPr>
          <p:cNvSpPr>
            <a:spLocks noGrp="1"/>
          </p:cNvSpPr>
          <p:nvPr>
            <p:ph type="subTitle" idx="1"/>
          </p:nvPr>
        </p:nvSpPr>
        <p:spPr>
          <a:xfrm>
            <a:off x="3107094" y="3919279"/>
            <a:ext cx="5666792" cy="447448"/>
          </a:xfrm>
        </p:spPr>
        <p:txBody>
          <a:bodyPr>
            <a:normAutofit lnSpcReduction="10000"/>
          </a:bodyPr>
          <a:lstStyle/>
          <a:p>
            <a:r>
              <a:rPr lang="en-IN" sz="2400" b="1" spc="-20" dirty="0">
                <a:latin typeface="Arial"/>
                <a:cs typeface="Arial"/>
              </a:rPr>
              <a:t>LITERATURE</a:t>
            </a:r>
            <a:r>
              <a:rPr lang="en-IN" sz="2400" b="1" spc="-5" dirty="0">
                <a:latin typeface="Arial"/>
                <a:cs typeface="Arial"/>
              </a:rPr>
              <a:t> </a:t>
            </a:r>
            <a:r>
              <a:rPr lang="en-IN" sz="2400" b="1" spc="-10" dirty="0">
                <a:latin typeface="Arial"/>
                <a:cs typeface="Arial"/>
              </a:rPr>
              <a:t>SURVEY</a:t>
            </a:r>
            <a:endParaRPr lang="en-IN" sz="2400" dirty="0">
              <a:latin typeface="Arial"/>
              <a:cs typeface="Arial"/>
            </a:endParaRPr>
          </a:p>
          <a:p>
            <a:endParaRPr lang="en-IN" dirty="0"/>
          </a:p>
        </p:txBody>
      </p:sp>
    </p:spTree>
    <p:extLst>
      <p:ext uri="{BB962C8B-B14F-4D97-AF65-F5344CB8AC3E}">
        <p14:creationId xmlns:p14="http://schemas.microsoft.com/office/powerpoint/2010/main" val="3971383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2C35EB-58B1-12A7-A054-018CDFD60C39}"/>
              </a:ext>
            </a:extLst>
          </p:cNvPr>
          <p:cNvSpPr/>
          <p:nvPr/>
        </p:nvSpPr>
        <p:spPr>
          <a:xfrm>
            <a:off x="130627" y="1642389"/>
            <a:ext cx="5393095" cy="923330"/>
          </a:xfrm>
          <a:prstGeom prst="rect">
            <a:avLst/>
          </a:prstGeom>
          <a:noFill/>
        </p:spPr>
        <p:txBody>
          <a:bodyPr wrap="square" lIns="91440" tIns="45720" rIns="91440" bIns="45720">
            <a:spAutoFit/>
          </a:bodyPr>
          <a:lstStyle/>
          <a:p>
            <a:pPr algn="ctr"/>
            <a:r>
              <a:rPr lang="en-IN" sz="5400" spc="-145" dirty="0">
                <a:latin typeface="Arial"/>
                <a:cs typeface="Arial"/>
              </a:rPr>
              <a:t>TEA</a:t>
            </a:r>
            <a:r>
              <a:rPr lang="en-IN" sz="5400" spc="-175" dirty="0">
                <a:latin typeface="Arial"/>
                <a:cs typeface="Arial"/>
              </a:rPr>
              <a:t>M</a:t>
            </a:r>
            <a:r>
              <a:rPr lang="en-IN" sz="5400" spc="-25" dirty="0">
                <a:latin typeface="Arial"/>
                <a:cs typeface="Arial"/>
              </a:rPr>
              <a:t> </a:t>
            </a:r>
            <a:r>
              <a:rPr lang="en-IN" sz="5400" spc="-130" dirty="0">
                <a:latin typeface="Arial"/>
                <a:cs typeface="Arial"/>
              </a:rPr>
              <a:t>D</a:t>
            </a:r>
            <a:r>
              <a:rPr lang="en-IN" sz="5400" spc="-145" dirty="0">
                <a:latin typeface="Arial"/>
                <a:cs typeface="Arial"/>
              </a:rPr>
              <a:t>ETA</a:t>
            </a:r>
            <a:r>
              <a:rPr lang="en-IN" sz="5400" spc="-70" dirty="0">
                <a:latin typeface="Arial"/>
                <a:cs typeface="Arial"/>
              </a:rPr>
              <a:t>I</a:t>
            </a:r>
            <a:r>
              <a:rPr lang="en-IN" sz="5400" spc="-85" dirty="0">
                <a:latin typeface="Arial"/>
                <a:cs typeface="Arial"/>
              </a:rPr>
              <a:t>L</a:t>
            </a:r>
            <a:r>
              <a:rPr lang="en-IN" sz="5400" spc="-95" dirty="0">
                <a:latin typeface="Arial"/>
                <a:cs typeface="Arial"/>
              </a:rPr>
              <a:t>S</a:t>
            </a:r>
            <a:r>
              <a:rPr lang="en-IN" sz="5400" spc="-195" dirty="0">
                <a:latin typeface="Arial"/>
                <a:cs typeface="Arial"/>
              </a:rPr>
              <a:t>:</a:t>
            </a: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7" name="TextBox 6">
            <a:extLst>
              <a:ext uri="{FF2B5EF4-FFF2-40B4-BE49-F238E27FC236}">
                <a16:creationId xmlns:a16="http://schemas.microsoft.com/office/drawing/2014/main" id="{308E70B2-B904-8068-6733-4820F4664D1C}"/>
              </a:ext>
            </a:extLst>
          </p:cNvPr>
          <p:cNvSpPr txBox="1"/>
          <p:nvPr/>
        </p:nvSpPr>
        <p:spPr>
          <a:xfrm>
            <a:off x="3223727" y="3204228"/>
            <a:ext cx="6111550" cy="1497846"/>
          </a:xfrm>
          <a:prstGeom prst="rect">
            <a:avLst/>
          </a:prstGeom>
          <a:noFill/>
        </p:spPr>
        <p:txBody>
          <a:bodyPr wrap="square">
            <a:spAutoFit/>
          </a:bodyPr>
          <a:lstStyle/>
          <a:p>
            <a:pPr marL="12700">
              <a:lnSpc>
                <a:spcPts val="2140"/>
              </a:lnSpc>
              <a:spcBef>
                <a:spcPts val="100"/>
              </a:spcBef>
              <a:tabLst>
                <a:tab pos="292735" algn="l"/>
              </a:tabLst>
            </a:pPr>
            <a:r>
              <a:rPr lang="en-US" sz="1800" spc="-5" dirty="0">
                <a:solidFill>
                  <a:srgbClr val="202020"/>
                </a:solidFill>
                <a:latin typeface="Bahnschrift"/>
                <a:cs typeface="Bahnschrift"/>
              </a:rPr>
              <a:t> :  PNT2022TMID42340</a:t>
            </a:r>
          </a:p>
          <a:p>
            <a:pPr marL="12700">
              <a:lnSpc>
                <a:spcPts val="2140"/>
              </a:lnSpc>
              <a:spcBef>
                <a:spcPts val="100"/>
              </a:spcBef>
              <a:tabLst>
                <a:tab pos="292735" algn="l"/>
              </a:tabLst>
            </a:pPr>
            <a:endParaRPr lang="en-US" sz="1800" dirty="0">
              <a:latin typeface="Bahnschrift"/>
              <a:cs typeface="Bahnschrift"/>
            </a:endParaRPr>
          </a:p>
          <a:p>
            <a:pPr marL="30480">
              <a:lnSpc>
                <a:spcPts val="2140"/>
              </a:lnSpc>
              <a:tabLst>
                <a:tab pos="245745" algn="l"/>
              </a:tabLst>
            </a:pPr>
            <a:r>
              <a:rPr lang="en-US" sz="1800" b="1" spc="-195" dirty="0">
                <a:solidFill>
                  <a:srgbClr val="0E243D"/>
                </a:solidFill>
                <a:latin typeface="Arial"/>
                <a:cs typeface="Arial"/>
              </a:rPr>
              <a:t> : 	</a:t>
            </a:r>
            <a:r>
              <a:rPr lang="en-US" sz="1800" b="1" spc="-5" dirty="0">
                <a:solidFill>
                  <a:srgbClr val="0E243D"/>
                </a:solidFill>
                <a:latin typeface="Bahnschrift"/>
                <a:cs typeface="Bahnschrift"/>
              </a:rPr>
              <a:t>   Angel college of engineering and technology</a:t>
            </a:r>
          </a:p>
          <a:p>
            <a:pPr marL="30480">
              <a:lnSpc>
                <a:spcPts val="2140"/>
              </a:lnSpc>
              <a:tabLst>
                <a:tab pos="245745" algn="l"/>
              </a:tabLst>
            </a:pPr>
            <a:endParaRPr lang="en-US" sz="1800" dirty="0">
              <a:latin typeface="Bahnschrift"/>
              <a:cs typeface="Bahnschrift"/>
            </a:endParaRPr>
          </a:p>
          <a:p>
            <a:pPr marL="59690">
              <a:lnSpc>
                <a:spcPct val="100000"/>
              </a:lnSpc>
              <a:spcBef>
                <a:spcPts val="335"/>
              </a:spcBef>
              <a:tabLst>
                <a:tab pos="245745" algn="l"/>
              </a:tabLst>
            </a:pPr>
            <a:r>
              <a:rPr lang="en-US" sz="1800" b="1" spc="-195" dirty="0">
                <a:solidFill>
                  <a:srgbClr val="0E243D"/>
                </a:solidFill>
                <a:latin typeface="Arial"/>
                <a:cs typeface="Arial"/>
              </a:rPr>
              <a:t>:	     </a:t>
            </a:r>
            <a:r>
              <a:rPr lang="en-US" sz="1800" dirty="0">
                <a:solidFill>
                  <a:srgbClr val="0E243D"/>
                </a:solidFill>
                <a:latin typeface="Bahnschrift"/>
                <a:cs typeface="Bahnschrift"/>
              </a:rPr>
              <a:t>Computer</a:t>
            </a:r>
            <a:r>
              <a:rPr lang="en-US" sz="1800" spc="145" dirty="0">
                <a:solidFill>
                  <a:srgbClr val="0E243D"/>
                </a:solidFill>
                <a:latin typeface="Bahnschrift"/>
                <a:cs typeface="Bahnschrift"/>
              </a:rPr>
              <a:t> </a:t>
            </a:r>
            <a:r>
              <a:rPr lang="en-US" sz="1800" dirty="0">
                <a:solidFill>
                  <a:srgbClr val="0E243D"/>
                </a:solidFill>
                <a:latin typeface="Bahnschrift"/>
                <a:cs typeface="Bahnschrift"/>
              </a:rPr>
              <a:t>Science</a:t>
            </a:r>
            <a:r>
              <a:rPr lang="en-US" sz="1800" spc="170" dirty="0">
                <a:solidFill>
                  <a:srgbClr val="0E243D"/>
                </a:solidFill>
                <a:latin typeface="Bahnschrift"/>
                <a:cs typeface="Bahnschrift"/>
              </a:rPr>
              <a:t> </a:t>
            </a:r>
            <a:r>
              <a:rPr lang="en-US" sz="1800" dirty="0">
                <a:solidFill>
                  <a:srgbClr val="0E243D"/>
                </a:solidFill>
                <a:latin typeface="Bahnschrift"/>
                <a:cs typeface="Bahnschrift"/>
              </a:rPr>
              <a:t>&amp;</a:t>
            </a:r>
            <a:r>
              <a:rPr lang="en-US" sz="1800" spc="160" dirty="0">
                <a:solidFill>
                  <a:srgbClr val="0E243D"/>
                </a:solidFill>
                <a:latin typeface="Bahnschrift"/>
                <a:cs typeface="Bahnschrift"/>
              </a:rPr>
              <a:t> </a:t>
            </a:r>
            <a:r>
              <a:rPr lang="en-US" sz="1800" spc="-5" dirty="0">
                <a:solidFill>
                  <a:srgbClr val="0E243D"/>
                </a:solidFill>
                <a:latin typeface="Bahnschrift"/>
                <a:cs typeface="Bahnschrift"/>
              </a:rPr>
              <a:t>Engineering</a:t>
            </a:r>
            <a:endParaRPr lang="en-US" sz="1800" dirty="0">
              <a:latin typeface="Bahnschrift"/>
              <a:cs typeface="Bahnschrift"/>
            </a:endParaRPr>
          </a:p>
        </p:txBody>
      </p:sp>
      <p:sp>
        <p:nvSpPr>
          <p:cNvPr id="9" name="TextBox 8">
            <a:extLst>
              <a:ext uri="{FF2B5EF4-FFF2-40B4-BE49-F238E27FC236}">
                <a16:creationId xmlns:a16="http://schemas.microsoft.com/office/drawing/2014/main" id="{079F141F-68E6-031F-E36A-96FE99B7215C}"/>
              </a:ext>
            </a:extLst>
          </p:cNvPr>
          <p:cNvSpPr txBox="1"/>
          <p:nvPr/>
        </p:nvSpPr>
        <p:spPr>
          <a:xfrm>
            <a:off x="807098" y="3178580"/>
            <a:ext cx="5845629" cy="1561966"/>
          </a:xfrm>
          <a:prstGeom prst="rect">
            <a:avLst/>
          </a:prstGeom>
          <a:noFill/>
        </p:spPr>
        <p:txBody>
          <a:bodyPr wrap="square">
            <a:spAutoFit/>
          </a:bodyPr>
          <a:lstStyle/>
          <a:p>
            <a:pPr marL="12700" marR="5080">
              <a:lnSpc>
                <a:spcPts val="2120"/>
              </a:lnSpc>
              <a:spcBef>
                <a:spcPts val="204"/>
              </a:spcBef>
            </a:pPr>
            <a:r>
              <a:rPr lang="en-US" sz="1800" b="1" spc="-150" dirty="0">
                <a:solidFill>
                  <a:srgbClr val="0E243D"/>
                </a:solidFill>
                <a:latin typeface="Arial"/>
                <a:cs typeface="Arial"/>
              </a:rPr>
              <a:t>T</a:t>
            </a:r>
            <a:r>
              <a:rPr lang="en-US" sz="1800" b="1" spc="-140" dirty="0">
                <a:solidFill>
                  <a:srgbClr val="0E243D"/>
                </a:solidFill>
                <a:latin typeface="Arial"/>
                <a:cs typeface="Arial"/>
              </a:rPr>
              <a:t>e</a:t>
            </a:r>
            <a:r>
              <a:rPr lang="en-US" sz="1800" b="1" spc="-45" dirty="0">
                <a:solidFill>
                  <a:srgbClr val="0E243D"/>
                </a:solidFill>
                <a:latin typeface="Arial"/>
                <a:cs typeface="Arial"/>
              </a:rPr>
              <a:t>a</a:t>
            </a:r>
            <a:r>
              <a:rPr lang="en-US" sz="1800" b="1" spc="-65" dirty="0">
                <a:solidFill>
                  <a:srgbClr val="0E243D"/>
                </a:solidFill>
                <a:latin typeface="Arial"/>
                <a:cs typeface="Arial"/>
              </a:rPr>
              <a:t>m</a:t>
            </a:r>
            <a:r>
              <a:rPr lang="en-US" sz="1800" b="1" spc="-120" dirty="0">
                <a:solidFill>
                  <a:srgbClr val="0E243D"/>
                </a:solidFill>
                <a:latin typeface="Arial"/>
                <a:cs typeface="Arial"/>
              </a:rPr>
              <a:t> </a:t>
            </a:r>
            <a:r>
              <a:rPr lang="en-US" sz="1800" b="1" spc="-65" dirty="0">
                <a:solidFill>
                  <a:srgbClr val="0E243D"/>
                </a:solidFill>
                <a:latin typeface="Arial"/>
                <a:cs typeface="Arial"/>
              </a:rPr>
              <a:t>No </a:t>
            </a:r>
          </a:p>
          <a:p>
            <a:pPr marL="12700" marR="5080">
              <a:lnSpc>
                <a:spcPts val="2120"/>
              </a:lnSpc>
              <a:spcBef>
                <a:spcPts val="204"/>
              </a:spcBef>
            </a:pPr>
            <a:endParaRPr lang="en-US" sz="1800" b="1" spc="-65" dirty="0">
              <a:solidFill>
                <a:srgbClr val="0E243D"/>
              </a:solidFill>
              <a:latin typeface="Arial"/>
              <a:cs typeface="Arial"/>
            </a:endParaRPr>
          </a:p>
          <a:p>
            <a:pPr marL="12700" marR="5080">
              <a:lnSpc>
                <a:spcPts val="2120"/>
              </a:lnSpc>
              <a:spcBef>
                <a:spcPts val="204"/>
              </a:spcBef>
            </a:pPr>
            <a:r>
              <a:rPr lang="en-US" sz="1800" b="1" spc="-65" dirty="0">
                <a:solidFill>
                  <a:srgbClr val="0E243D"/>
                </a:solidFill>
                <a:latin typeface="Arial"/>
                <a:cs typeface="Arial"/>
              </a:rPr>
              <a:t> </a:t>
            </a:r>
            <a:r>
              <a:rPr lang="en-US" sz="1800" b="1" spc="-75" dirty="0">
                <a:solidFill>
                  <a:srgbClr val="0E243D"/>
                </a:solidFill>
                <a:latin typeface="Arial"/>
                <a:cs typeface="Arial"/>
              </a:rPr>
              <a:t>Col</a:t>
            </a:r>
            <a:r>
              <a:rPr lang="en-US" sz="1800" b="1" spc="-50" dirty="0">
                <a:solidFill>
                  <a:srgbClr val="0E243D"/>
                </a:solidFill>
                <a:latin typeface="Arial"/>
                <a:cs typeface="Arial"/>
              </a:rPr>
              <a:t>l</a:t>
            </a:r>
            <a:r>
              <a:rPr lang="en-US" sz="1800" b="1" spc="-75" dirty="0">
                <a:solidFill>
                  <a:srgbClr val="0E243D"/>
                </a:solidFill>
                <a:latin typeface="Arial"/>
                <a:cs typeface="Arial"/>
              </a:rPr>
              <a:t>eg</a:t>
            </a:r>
            <a:r>
              <a:rPr lang="en-US" sz="1800" b="1" spc="-65" dirty="0">
                <a:solidFill>
                  <a:srgbClr val="0E243D"/>
                </a:solidFill>
                <a:latin typeface="Arial"/>
                <a:cs typeface="Arial"/>
              </a:rPr>
              <a:t>e</a:t>
            </a:r>
            <a:r>
              <a:rPr lang="en-US" sz="1800" b="1" spc="-5" dirty="0">
                <a:solidFill>
                  <a:srgbClr val="0E243D"/>
                </a:solidFill>
                <a:latin typeface="Arial"/>
                <a:cs typeface="Arial"/>
              </a:rPr>
              <a:t> </a:t>
            </a:r>
            <a:r>
              <a:rPr lang="en-US" sz="1800" b="1" spc="-50" dirty="0">
                <a:solidFill>
                  <a:srgbClr val="0E243D"/>
                </a:solidFill>
                <a:latin typeface="Arial"/>
                <a:cs typeface="Arial"/>
              </a:rPr>
              <a:t>Name</a:t>
            </a:r>
            <a:endParaRPr lang="en-US" sz="1800" dirty="0">
              <a:latin typeface="Arial"/>
              <a:cs typeface="Arial"/>
            </a:endParaRPr>
          </a:p>
          <a:p>
            <a:pPr marL="12700" marR="5080">
              <a:lnSpc>
                <a:spcPts val="2120"/>
              </a:lnSpc>
              <a:spcBef>
                <a:spcPts val="204"/>
              </a:spcBef>
            </a:pPr>
            <a:endParaRPr lang="en-US" sz="1800" dirty="0">
              <a:latin typeface="Arial"/>
              <a:cs typeface="Arial"/>
            </a:endParaRPr>
          </a:p>
          <a:p>
            <a:pPr marL="12700">
              <a:lnSpc>
                <a:spcPct val="100000"/>
              </a:lnSpc>
              <a:spcBef>
                <a:spcPts val="275"/>
              </a:spcBef>
            </a:pPr>
            <a:r>
              <a:rPr lang="en-US" sz="1800" b="1" spc="-50" dirty="0">
                <a:solidFill>
                  <a:srgbClr val="0E243D"/>
                </a:solidFill>
                <a:latin typeface="Arial"/>
                <a:cs typeface="Arial"/>
              </a:rPr>
              <a:t>Department</a:t>
            </a:r>
            <a:endParaRPr lang="en-US" sz="1800" dirty="0">
              <a:latin typeface="Arial"/>
              <a:cs typeface="Arial"/>
            </a:endParaRPr>
          </a:p>
        </p:txBody>
      </p:sp>
    </p:spTree>
    <p:extLst>
      <p:ext uri="{BB962C8B-B14F-4D97-AF65-F5344CB8AC3E}">
        <p14:creationId xmlns:p14="http://schemas.microsoft.com/office/powerpoint/2010/main" val="1557415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1">
            <a:extLst>
              <a:ext uri="{FF2B5EF4-FFF2-40B4-BE49-F238E27FC236}">
                <a16:creationId xmlns:a16="http://schemas.microsoft.com/office/drawing/2014/main" id="{CE2D8B98-64C0-A87C-AADC-EBCBE805FFA3}"/>
              </a:ext>
            </a:extLst>
          </p:cNvPr>
          <p:cNvSpPr txBox="1"/>
          <p:nvPr/>
        </p:nvSpPr>
        <p:spPr>
          <a:xfrm>
            <a:off x="11451234" y="6211405"/>
            <a:ext cx="117475" cy="208279"/>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00"/>
              </a:spcBef>
            </a:pPr>
            <a:r>
              <a:rPr sz="1200" spc="55" dirty="0">
                <a:solidFill>
                  <a:srgbClr val="0E243D"/>
                </a:solidFill>
                <a:latin typeface="Microsoft Sans Serif"/>
                <a:cs typeface="Microsoft Sans Serif"/>
              </a:rPr>
              <a:t>3</a:t>
            </a:r>
            <a:endParaRPr sz="1200">
              <a:latin typeface="Microsoft Sans Serif"/>
              <a:cs typeface="Microsoft Sans Serif"/>
            </a:endParaRPr>
          </a:p>
        </p:txBody>
      </p:sp>
      <p:sp>
        <p:nvSpPr>
          <p:cNvPr id="3" name="TextBox 1048802">
            <a:extLst>
              <a:ext uri="{FF2B5EF4-FFF2-40B4-BE49-F238E27FC236}">
                <a16:creationId xmlns:a16="http://schemas.microsoft.com/office/drawing/2014/main" id="{88E2F258-90F6-58D3-75C4-34B36B08B038}"/>
              </a:ext>
            </a:extLst>
          </p:cNvPr>
          <p:cNvSpPr txBox="1"/>
          <p:nvPr/>
        </p:nvSpPr>
        <p:spPr>
          <a:xfrm>
            <a:off x="623292" y="438316"/>
            <a:ext cx="4000000" cy="510540"/>
          </a:xfrm>
          <a:prstGeom prst="rect">
            <a:avLst/>
          </a:prstGeom>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a:solidFill>
                  <a:srgbClr val="000000"/>
                </a:solidFill>
              </a:rPr>
              <a:t>Team leader: HARISH S</a:t>
            </a:r>
          </a:p>
        </p:txBody>
      </p:sp>
      <p:sp>
        <p:nvSpPr>
          <p:cNvPr id="4" name="TextBox 1048803">
            <a:extLst>
              <a:ext uri="{FF2B5EF4-FFF2-40B4-BE49-F238E27FC236}">
                <a16:creationId xmlns:a16="http://schemas.microsoft.com/office/drawing/2014/main" id="{09B25A4C-DD41-2471-94EB-BBCB686B6835}"/>
              </a:ext>
            </a:extLst>
          </p:cNvPr>
          <p:cNvSpPr txBox="1"/>
          <p:nvPr/>
        </p:nvSpPr>
        <p:spPr>
          <a:xfrm>
            <a:off x="623291" y="1340787"/>
            <a:ext cx="4000000" cy="929639"/>
          </a:xfrm>
          <a:prstGeom prst="rect">
            <a:avLst/>
          </a:prstGeom>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a:solidFill>
                  <a:srgbClr val="000000"/>
                </a:solidFill>
              </a:rPr>
              <a:t>Team member: YATHESH KUMAR S T</a:t>
            </a:r>
          </a:p>
        </p:txBody>
      </p:sp>
      <p:sp>
        <p:nvSpPr>
          <p:cNvPr id="5" name="TextBox 1048804">
            <a:extLst>
              <a:ext uri="{FF2B5EF4-FFF2-40B4-BE49-F238E27FC236}">
                <a16:creationId xmlns:a16="http://schemas.microsoft.com/office/drawing/2014/main" id="{72BB878A-F7AB-A999-30D8-D822507A3BE5}"/>
              </a:ext>
            </a:extLst>
          </p:cNvPr>
          <p:cNvSpPr txBox="1"/>
          <p:nvPr/>
        </p:nvSpPr>
        <p:spPr>
          <a:xfrm>
            <a:off x="623291" y="2662356"/>
            <a:ext cx="4000000" cy="929639"/>
          </a:xfrm>
          <a:prstGeom prst="rect">
            <a:avLst/>
          </a:prstGeom>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a:solidFill>
                  <a:srgbClr val="000000"/>
                </a:solidFill>
              </a:rPr>
              <a:t>Team member: NAVOJITH SHANKAR G</a:t>
            </a:r>
          </a:p>
        </p:txBody>
      </p:sp>
      <p:sp>
        <p:nvSpPr>
          <p:cNvPr id="6" name="TextBox 1048805">
            <a:extLst>
              <a:ext uri="{FF2B5EF4-FFF2-40B4-BE49-F238E27FC236}">
                <a16:creationId xmlns:a16="http://schemas.microsoft.com/office/drawing/2014/main" id="{74A4972E-3132-C87E-3A1D-07BF46D5D4C0}"/>
              </a:ext>
            </a:extLst>
          </p:cNvPr>
          <p:cNvSpPr txBox="1"/>
          <p:nvPr/>
        </p:nvSpPr>
        <p:spPr>
          <a:xfrm>
            <a:off x="623291" y="3983924"/>
            <a:ext cx="4000000" cy="929639"/>
          </a:xfrm>
          <a:prstGeom prst="rect">
            <a:avLst/>
          </a:prstGeom>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a:solidFill>
                  <a:srgbClr val="000000"/>
                </a:solidFill>
              </a:rPr>
              <a:t>Team member: MANOJ KUMAR S</a:t>
            </a:r>
          </a:p>
        </p:txBody>
      </p:sp>
    </p:spTree>
    <p:extLst>
      <p:ext uri="{BB962C8B-B14F-4D97-AF65-F5344CB8AC3E}">
        <p14:creationId xmlns:p14="http://schemas.microsoft.com/office/powerpoint/2010/main" val="1987156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245ABD4-89D4-4584-0B6F-C80AAB17CF55}"/>
              </a:ext>
            </a:extLst>
          </p:cNvPr>
          <p:cNvGraphicFramePr>
            <a:graphicFrameLocks noGrp="1"/>
          </p:cNvGraphicFramePr>
          <p:nvPr>
            <p:extLst>
              <p:ext uri="{D42A27DB-BD31-4B8C-83A1-F6EECF244321}">
                <p14:modId xmlns:p14="http://schemas.microsoft.com/office/powerpoint/2010/main" val="778620751"/>
              </p:ext>
            </p:extLst>
          </p:nvPr>
        </p:nvGraphicFramePr>
        <p:xfrm>
          <a:off x="1528147" y="182466"/>
          <a:ext cx="8128000" cy="6493067"/>
        </p:xfrm>
        <a:graphic>
          <a:graphicData uri="http://schemas.openxmlformats.org/drawingml/2006/table">
            <a:tbl>
              <a:tblPr firstRow="1" bandRow="1">
                <a:tableStyleId>{0505E3EF-67EA-436B-97B2-0124C06EBD24}</a:tableStyleId>
              </a:tblPr>
              <a:tblGrid>
                <a:gridCol w="1625600">
                  <a:extLst>
                    <a:ext uri="{9D8B030D-6E8A-4147-A177-3AD203B41FA5}">
                      <a16:colId xmlns:a16="http://schemas.microsoft.com/office/drawing/2014/main" val="2831347016"/>
                    </a:ext>
                  </a:extLst>
                </a:gridCol>
                <a:gridCol w="895739">
                  <a:extLst>
                    <a:ext uri="{9D8B030D-6E8A-4147-A177-3AD203B41FA5}">
                      <a16:colId xmlns:a16="http://schemas.microsoft.com/office/drawing/2014/main" val="4153758326"/>
                    </a:ext>
                  </a:extLst>
                </a:gridCol>
                <a:gridCol w="2355461">
                  <a:extLst>
                    <a:ext uri="{9D8B030D-6E8A-4147-A177-3AD203B41FA5}">
                      <a16:colId xmlns:a16="http://schemas.microsoft.com/office/drawing/2014/main" val="3163971513"/>
                    </a:ext>
                  </a:extLst>
                </a:gridCol>
                <a:gridCol w="1625600">
                  <a:extLst>
                    <a:ext uri="{9D8B030D-6E8A-4147-A177-3AD203B41FA5}">
                      <a16:colId xmlns:a16="http://schemas.microsoft.com/office/drawing/2014/main" val="229173077"/>
                    </a:ext>
                  </a:extLst>
                </a:gridCol>
                <a:gridCol w="1625600">
                  <a:extLst>
                    <a:ext uri="{9D8B030D-6E8A-4147-A177-3AD203B41FA5}">
                      <a16:colId xmlns:a16="http://schemas.microsoft.com/office/drawing/2014/main" val="1487583773"/>
                    </a:ext>
                  </a:extLst>
                </a:gridCol>
              </a:tblGrid>
              <a:tr h="370840">
                <a:tc>
                  <a:txBody>
                    <a:bodyPr/>
                    <a:lstStyle/>
                    <a:p>
                      <a:pPr>
                        <a:lnSpc>
                          <a:spcPct val="107000"/>
                        </a:lnSpc>
                        <a:spcAft>
                          <a:spcPts val="800"/>
                        </a:spcAft>
                      </a:pPr>
                      <a:r>
                        <a:rPr lang="en-IN" sz="1400" dirty="0">
                          <a:effectLst/>
                          <a:latin typeface="Times New Roman" panose="02020603050405020304" pitchFamily="18" charset="0"/>
                          <a:ea typeface="Calibri" panose="020F0502020204030204" pitchFamily="34" charset="0"/>
                          <a:cs typeface="Times New Roman" panose="02020603050405020304" pitchFamily="18" charset="0"/>
                        </a:rPr>
                        <a:t>TITLE AND AUTHOR(S)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400">
                          <a:effectLst/>
                          <a:latin typeface="Times New Roman" panose="02020603050405020304" pitchFamily="18" charset="0"/>
                          <a:ea typeface="Calibri" panose="020F0502020204030204" pitchFamily="34" charset="0"/>
                          <a:cs typeface="Times New Roman" panose="02020603050405020304" pitchFamily="18" charset="0"/>
                        </a:rPr>
                        <a:t>YEAR</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400">
                          <a:effectLst/>
                          <a:latin typeface="Times New Roman" panose="02020603050405020304" pitchFamily="18" charset="0"/>
                          <a:ea typeface="Calibri" panose="020F0502020204030204" pitchFamily="34" charset="0"/>
                          <a:cs typeface="Times New Roman" panose="02020603050405020304" pitchFamily="18" charset="0"/>
                        </a:rPr>
                        <a:t>TECHNIQUE (S)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400">
                          <a:effectLst/>
                          <a:latin typeface="Times New Roman" panose="02020603050405020304" pitchFamily="18" charset="0"/>
                          <a:ea typeface="Calibri" panose="020F0502020204030204" pitchFamily="34" charset="0"/>
                          <a:cs typeface="Times New Roman" panose="02020603050405020304" pitchFamily="18" charset="0"/>
                        </a:rPr>
                        <a:t>FINDINGS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400" dirty="0">
                          <a:effectLst/>
                          <a:latin typeface="Times New Roman" panose="02020603050405020304" pitchFamily="18" charset="0"/>
                          <a:ea typeface="Calibri" panose="020F0502020204030204" pitchFamily="34" charset="0"/>
                          <a:cs typeface="Times New Roman" panose="02020603050405020304" pitchFamily="18" charset="0"/>
                        </a:rPr>
                        <a:t>PROS AND CONS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644694"/>
                  </a:ext>
                </a:extLst>
              </a:tr>
              <a:tr h="370840">
                <a:tc>
                  <a:txBody>
                    <a:bodyPr/>
                    <a:lstStyle/>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Mobile cloud based system recognizing nutrition and freshness of food image-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Kumbhar, Diptee and Patil, Sarita</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20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a:effectLst/>
                          <a:latin typeface="Times New Roman" panose="02020603050405020304" pitchFamily="18" charset="0"/>
                          <a:ea typeface="Calibri" panose="020F0502020204030204" pitchFamily="34" charset="0"/>
                          <a:cs typeface="Times New Roman" panose="02020603050405020304" pitchFamily="18" charset="0"/>
                        </a:rPr>
                        <a:t>2017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Cloud Computing, Image Segmentation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Mobile cloud computing (MCC) has been introduced to be a potential paradigm for mobile health services to overcome the interoperability issues over distinctive information formats. In this, we propose a mobile cloud-based food calorie measurement framework.</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P: </a:t>
                      </a:r>
                      <a:r>
                        <a:rPr lang="en-IN" sz="1200" b="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Multiple Platform Support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200" b="1" dirty="0">
                          <a:solidFill>
                            <a:srgbClr val="222222"/>
                          </a:solidFill>
                          <a:effectLst/>
                          <a:latin typeface="Calibri" panose="020F0502020204030204" pitchFamily="34" charset="0"/>
                          <a:ea typeface="Calibri" panose="020F0502020204030204" pitchFamily="34" charset="0"/>
                          <a:cs typeface="Times New Roman" panose="02020603050405020304" pitchFamily="18" charset="0"/>
                        </a:rPr>
                        <a:t>Cost-Efficient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200" b="0" dirty="0">
                          <a:solidFill>
                            <a:srgbClr val="222222"/>
                          </a:solidFill>
                          <a:effectLst/>
                          <a:latin typeface="Calibri" panose="020F0502020204030204" pitchFamily="34" charset="0"/>
                          <a:ea typeface="Calibri" panose="020F0502020204030204" pitchFamily="34" charset="0"/>
                          <a:cs typeface="Times New Roman" panose="02020603050405020304" pitchFamily="18"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200" b="1" dirty="0">
                          <a:solidFill>
                            <a:srgbClr val="222222"/>
                          </a:solidFill>
                          <a:effectLst/>
                          <a:latin typeface="Calibri" panose="020F0502020204030204" pitchFamily="34" charset="0"/>
                          <a:ea typeface="Calibri" panose="020F0502020204030204" pitchFamily="34" charset="0"/>
                          <a:cs typeface="Times New Roman" panose="02020603050405020304" pitchFamily="18" charset="0"/>
                        </a:rPr>
                        <a:t>C: Connectivity and Performance Issues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65952558"/>
                  </a:ext>
                </a:extLst>
              </a:tr>
              <a:tr h="370840">
                <a:tc>
                  <a:txBody>
                    <a:bodyPr/>
                    <a:lstStyle/>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Use of artificial intelligence in precision nutrition and fitness-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 Moraes Lopes, Maria Helena Baena and Ferreira, Danton Diego and Ferreira, Ana Claudia Barbosa Honorio and da Silva, Giuliano Roberto and Caetano, Aletha Silva and Braz</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a:effectLst/>
                          <a:latin typeface="Times New Roman" panose="02020603050405020304" pitchFamily="18" charset="0"/>
                          <a:ea typeface="Calibri" panose="020F0502020204030204" pitchFamily="34" charset="0"/>
                          <a:cs typeface="Times New Roman" panose="02020603050405020304" pitchFamily="18" charset="0"/>
                        </a:rPr>
                        <a:t>2020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Artificial Intelligence,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Nutritional surveillance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200">
                          <a:solidFill>
                            <a:srgbClr val="2E2E2E"/>
                          </a:solidFill>
                          <a:effectLst/>
                          <a:latin typeface="Times New Roman" panose="02020603050405020304" pitchFamily="18" charset="0"/>
                          <a:ea typeface="Calibri" panose="020F0502020204030204" pitchFamily="34" charset="0"/>
                          <a:cs typeface="Times New Roman" panose="02020603050405020304" pitchFamily="18" charset="0"/>
                        </a:rPr>
                        <a:t>Among the available computational tools, artificial intelligence (AI) has gained more and more attention recently, since it is able to learn and model linear and nonlinear relationships between variables by constructing an input-output mapping such that hidden and extremely useful information for decision-making is revealed and interprete.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spcAft>
                          <a:spcPts val="300"/>
                        </a:spcAft>
                      </a:pPr>
                      <a:r>
                        <a:rPr lang="en-IN" sz="1200" dirty="0">
                          <a:solidFill>
                            <a:srgbClr val="2E2E2E"/>
                          </a:solidFill>
                          <a:effectLst/>
                          <a:latin typeface="Times New Roman" panose="02020603050405020304" pitchFamily="18" charset="0"/>
                          <a:ea typeface="Times New Roman" panose="02020603050405020304" pitchFamily="18" charset="0"/>
                          <a:cs typeface="Times New Roman" panose="02020603050405020304" pitchFamily="18" charset="0"/>
                        </a:rPr>
                        <a:t>P:  A large amount of data is collected by these technologies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300"/>
                        </a:spcAft>
                      </a:pPr>
                      <a:r>
                        <a:rPr lang="en-IN" sz="1200" dirty="0">
                          <a:solidFill>
                            <a:srgbClr val="2E2E2E"/>
                          </a:solidFill>
                          <a:effectLst/>
                          <a:latin typeface="Times New Roman" panose="02020603050405020304" pitchFamily="18" charset="0"/>
                          <a:ea typeface="Times New Roman" panose="02020603050405020304" pitchFamily="18" charset="0"/>
                          <a:cs typeface="Times New Roman" panose="02020603050405020304" pitchFamily="18" charset="0"/>
                        </a:rPr>
                        <a:t>C:AI is not yet widely used in the areas of nutrition and fitness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28064702"/>
                  </a:ext>
                </a:extLst>
              </a:tr>
            </a:tbl>
          </a:graphicData>
        </a:graphic>
      </p:graphicFrame>
    </p:spTree>
    <p:extLst>
      <p:ext uri="{BB962C8B-B14F-4D97-AF65-F5344CB8AC3E}">
        <p14:creationId xmlns:p14="http://schemas.microsoft.com/office/powerpoint/2010/main" val="1174153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B6C6DB-3CBA-A771-1473-AEF4DD36D61A}"/>
              </a:ext>
            </a:extLst>
          </p:cNvPr>
          <p:cNvSpPr/>
          <p:nvPr/>
        </p:nvSpPr>
        <p:spPr>
          <a:xfrm>
            <a:off x="4038224" y="2771392"/>
            <a:ext cx="3089179"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170720289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2</TotalTime>
  <Words>284</Words>
  <Application>Microsoft Office PowerPoint</Application>
  <PresentationFormat>Widescreen</PresentationFormat>
  <Paragraphs>45</Paragraphs>
  <Slides>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vt:i4>
      </vt:variant>
    </vt:vector>
  </HeadingPairs>
  <TitlesOfParts>
    <vt:vector size="14" baseType="lpstr">
      <vt:lpstr>Arial</vt:lpstr>
      <vt:lpstr>Arial Black</vt:lpstr>
      <vt:lpstr>Bahnschrift</vt:lpstr>
      <vt:lpstr>Calibri</vt:lpstr>
      <vt:lpstr>Microsoft Sans Serif</vt:lpstr>
      <vt:lpstr>Times New Roman</vt:lpstr>
      <vt:lpstr>Trebuchet MS</vt:lpstr>
      <vt:lpstr>Wingdings 3</vt:lpstr>
      <vt:lpstr>Facet</vt:lpstr>
      <vt:lpstr>NUTRITION ASSISTANT APPLICATION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NUTRITION ASSISTANT APPLICATION</dc:title>
  <dc:creator>Harish sivabalan</dc:creator>
  <cp:lastModifiedBy>Harish sivabalan</cp:lastModifiedBy>
  <cp:revision>1</cp:revision>
  <dcterms:created xsi:type="dcterms:W3CDTF">2022-09-18T13:47:40Z</dcterms:created>
  <dcterms:modified xsi:type="dcterms:W3CDTF">2022-09-18T13:50:19Z</dcterms:modified>
</cp:coreProperties>
</file>